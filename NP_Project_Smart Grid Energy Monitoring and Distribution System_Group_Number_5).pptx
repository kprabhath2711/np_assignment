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4"/>
    <p:sldMasterId id="2147483652" r:id="rId5"/>
    <p:sldMasterId id="214748365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E43337-4345-43BF-802A-63DD54FFFC02}">
  <a:tblStyle styleId="{D8E43337-4345-43BF-802A-63DD54FFFC0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cc1a19be4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dcc1a19be4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cc1a19be4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dcc1a19be4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cc1a19be4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cc1a19be4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dcc1a19be4_0_42:notes"/>
          <p:cNvSpPr txBox="1"/>
          <p:nvPr>
            <p:ph idx="12" type="sldNum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cc1a19be4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dcc1a19be4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cc1a19be4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dcc1a19be4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cc1a19be4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dcc1a19be4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cc1a19be4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dcc1a19be4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28a2a01e8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e28a2a01e8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28a2a01e8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e28a2a01e8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28a2a01e8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e28a2a01e8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28a2a01e8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e28a2a01e8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28a2a01e8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e28a2a01e8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28a2a01e8_0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e28a2a01e8_0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28a2a01e8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e28a2a01e8_0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28a2a01e8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e28a2a01e8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28a2a01e8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e28a2a01e8_0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28a2a01e8_0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e28a2a01e8_0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/>
          <p:nvPr>
            <p:ph idx="1" type="body"/>
          </p:nvPr>
        </p:nvSpPr>
        <p:spPr>
          <a:xfrm>
            <a:off x="3352800" y="5410200"/>
            <a:ext cx="802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type="title"/>
          </p:nvPr>
        </p:nvSpPr>
        <p:spPr>
          <a:xfrm>
            <a:off x="3352800" y="3810000"/>
            <a:ext cx="8026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/>
          <p:nvPr>
            <p:ph idx="1" type="body"/>
          </p:nvPr>
        </p:nvSpPr>
        <p:spPr>
          <a:xfrm>
            <a:off x="406400" y="1493838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2" type="body"/>
          </p:nvPr>
        </p:nvSpPr>
        <p:spPr>
          <a:xfrm>
            <a:off x="406400" y="152400"/>
            <a:ext cx="8432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 txBox="1"/>
          <p:nvPr>
            <p:ph idx="1" type="body"/>
          </p:nvPr>
        </p:nvSpPr>
        <p:spPr>
          <a:xfrm>
            <a:off x="406400" y="4648200"/>
            <a:ext cx="11277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sz="4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theme" Target="../theme/theme4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ITS_university_logo_whitevert.png" id="14" name="Google Shape;14;p1"/>
          <p:cNvPicPr preferRelativeResize="0"/>
          <p:nvPr/>
        </p:nvPicPr>
        <p:blipFill rotWithShape="1">
          <a:blip r:embed="rId2">
            <a:alphaModFix/>
          </a:blip>
          <a:srcRect b="28591" l="0" r="0" t="1"/>
          <a:stretch/>
        </p:blipFill>
        <p:spPr>
          <a:xfrm>
            <a:off x="101600" y="3352800"/>
            <a:ext cx="2743200" cy="197961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/>
          <p:nvPr/>
        </p:nvSpPr>
        <p:spPr>
          <a:xfrm>
            <a:off x="-101600" y="5257800"/>
            <a:ext cx="2946400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b="0" i="0" lang="en-US" sz="2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6" name="Google Shape;16;p1"/>
          <p:cNvSpPr txBox="1"/>
          <p:nvPr/>
        </p:nvSpPr>
        <p:spPr>
          <a:xfrm>
            <a:off x="203200" y="5667375"/>
            <a:ext cx="2540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7" name="Google Shape;17;p1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" type="body"/>
          </p:nvPr>
        </p:nvSpPr>
        <p:spPr>
          <a:xfrm>
            <a:off x="609600" y="1600200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/>
        </p:nvSpPr>
        <p:spPr>
          <a:xfrm>
            <a:off x="4368800" y="6596062"/>
            <a:ext cx="78231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US" sz="1100" u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4" name="Google Shape;24;p3"/>
          <p:cNvGrpSpPr/>
          <p:nvPr/>
        </p:nvGrpSpPr>
        <p:grpSpPr>
          <a:xfrm>
            <a:off x="2779787" y="6549762"/>
            <a:ext cx="9412425" cy="49144"/>
            <a:chOff x="2083888" y="6550671"/>
            <a:chExt cx="7060025" cy="48600"/>
          </a:xfrm>
        </p:grpSpPr>
        <p:sp>
          <p:nvSpPr>
            <p:cNvPr id="25" name="Google Shape;25;p3"/>
            <p:cNvSpPr txBox="1"/>
            <p:nvPr/>
          </p:nvSpPr>
          <p:spPr>
            <a:xfrm>
              <a:off x="4630958" y="6550671"/>
              <a:ext cx="2328000" cy="4860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3"/>
            <p:cNvSpPr txBox="1"/>
            <p:nvPr/>
          </p:nvSpPr>
          <p:spPr>
            <a:xfrm>
              <a:off x="6908913" y="6550671"/>
              <a:ext cx="2235000" cy="45600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3"/>
            <p:cNvSpPr txBox="1"/>
            <p:nvPr/>
          </p:nvSpPr>
          <p:spPr>
            <a:xfrm>
              <a:off x="2083888" y="6550671"/>
              <a:ext cx="2581500" cy="4860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Picture 7.png" id="28" name="Google Shape;28;p3"/>
          <p:cNvPicPr preferRelativeResize="0"/>
          <p:nvPr/>
        </p:nvPicPr>
        <p:blipFill rotWithShape="1">
          <a:blip r:embed="rId1">
            <a:alphaModFix/>
          </a:blip>
          <a:srcRect b="5339" l="1922" r="0" t="0"/>
          <a:stretch/>
        </p:blipFill>
        <p:spPr>
          <a:xfrm>
            <a:off x="8839200" y="0"/>
            <a:ext cx="2925762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2844736" y="6553491"/>
            <a:ext cx="9347017" cy="45919"/>
            <a:chOff x="1905000" y="6553200"/>
            <a:chExt cx="7010438" cy="456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267200" y="6553200"/>
              <a:ext cx="2328900" cy="4560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3"/>
            <p:cNvSpPr txBox="1"/>
            <p:nvPr/>
          </p:nvSpPr>
          <p:spPr>
            <a:xfrm>
              <a:off x="1905000" y="6553200"/>
              <a:ext cx="2362200" cy="4560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3"/>
            <p:cNvSpPr txBox="1"/>
            <p:nvPr/>
          </p:nvSpPr>
          <p:spPr>
            <a:xfrm>
              <a:off x="6586538" y="6553200"/>
              <a:ext cx="2328900" cy="456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" name="Google Shape;33;p3"/>
          <p:cNvGrpSpPr/>
          <p:nvPr/>
        </p:nvGrpSpPr>
        <p:grpSpPr>
          <a:xfrm>
            <a:off x="-64" y="1295691"/>
            <a:ext cx="9347017" cy="45919"/>
            <a:chOff x="1905000" y="6553200"/>
            <a:chExt cx="7010438" cy="45600"/>
          </a:xfrm>
        </p:grpSpPr>
        <p:sp>
          <p:nvSpPr>
            <p:cNvPr id="34" name="Google Shape;34;p3"/>
            <p:cNvSpPr txBox="1"/>
            <p:nvPr/>
          </p:nvSpPr>
          <p:spPr>
            <a:xfrm>
              <a:off x="4267200" y="6553200"/>
              <a:ext cx="2328900" cy="4560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3"/>
            <p:cNvSpPr txBox="1"/>
            <p:nvPr/>
          </p:nvSpPr>
          <p:spPr>
            <a:xfrm>
              <a:off x="1905000" y="6553200"/>
              <a:ext cx="2362200" cy="4560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3"/>
            <p:cNvSpPr txBox="1"/>
            <p:nvPr/>
          </p:nvSpPr>
          <p:spPr>
            <a:xfrm>
              <a:off x="6586538" y="6553200"/>
              <a:ext cx="2328900" cy="456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" name="Google Shape;37;p3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3"/>
          <p:cNvSpPr txBox="1"/>
          <p:nvPr>
            <p:ph idx="1" type="body"/>
          </p:nvPr>
        </p:nvSpPr>
        <p:spPr>
          <a:xfrm>
            <a:off x="609600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Server\D\jyoti\FI023_BITS_v1\styleguide img\IMG_5627_b.jpg" id="43" name="Google Shape;43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/>
        </p:nvSpPr>
        <p:spPr>
          <a:xfrm>
            <a:off x="0" y="4281487"/>
            <a:ext cx="12192000" cy="257651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7.png" id="45" name="Google Shape;45;p5"/>
          <p:cNvPicPr preferRelativeResize="0"/>
          <p:nvPr/>
        </p:nvPicPr>
        <p:blipFill rotWithShape="1">
          <a:blip r:embed="rId2">
            <a:alphaModFix/>
          </a:blip>
          <a:srcRect b="5335" l="1922" r="0" t="0"/>
          <a:stretch/>
        </p:blipFill>
        <p:spPr>
          <a:xfrm>
            <a:off x="8839200" y="0"/>
            <a:ext cx="2925762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 txBox="1"/>
          <p:nvPr/>
        </p:nvSpPr>
        <p:spPr>
          <a:xfrm>
            <a:off x="384333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 txBox="1"/>
          <p:nvPr/>
        </p:nvSpPr>
        <p:spPr>
          <a:xfrm>
            <a:off x="-17462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770413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9144000" y="762000"/>
            <a:ext cx="2946400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b="0" i="0" lang="en-US" sz="2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50" name="Google Shape;50;p5"/>
          <p:cNvSpPr txBox="1"/>
          <p:nvPr/>
        </p:nvSpPr>
        <p:spPr>
          <a:xfrm>
            <a:off x="9448800" y="1171575"/>
            <a:ext cx="2540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51" name="Google Shape;51;p5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609600" y="1600200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 txBox="1"/>
          <p:nvPr>
            <p:ph type="title"/>
          </p:nvPr>
        </p:nvSpPr>
        <p:spPr>
          <a:xfrm>
            <a:off x="3551237" y="3644900"/>
            <a:ext cx="78723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ookman Old Style"/>
              <a:buNone/>
            </a:pPr>
            <a:r>
              <a:rPr b="0" lang="en-US" sz="2900">
                <a:latin typeface="Bookman Old Style"/>
                <a:ea typeface="Bookman Old Style"/>
                <a:cs typeface="Bookman Old Style"/>
                <a:sym typeface="Bookman Old Style"/>
              </a:rPr>
              <a:t>Network Programming</a:t>
            </a:r>
            <a:endParaRPr b="0" sz="28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ookman Old Style"/>
              <a:buNone/>
            </a:pPr>
            <a:r>
              <a:rPr b="0" lang="en-US" sz="1800">
                <a:latin typeface="Bookman Old Style"/>
                <a:ea typeface="Bookman Old Style"/>
                <a:cs typeface="Bookman Old Style"/>
                <a:sym typeface="Bookman Old Style"/>
              </a:rPr>
              <a:t>(CSIZC462/ISZC462/SSZC462)</a:t>
            </a:r>
            <a:endParaRPr sz="30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ookman Old Style"/>
              <a:buNone/>
            </a:pPr>
            <a:r>
              <a:rPr lang="en-US" sz="3400">
                <a:latin typeface="Bookman Old Style"/>
                <a:ea typeface="Bookman Old Style"/>
                <a:cs typeface="Bookman Old Style"/>
                <a:sym typeface="Bookman Old Style"/>
              </a:rPr>
              <a:t>Assignment Phase 2</a:t>
            </a:r>
            <a:endParaRPr sz="34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ookman Old Style"/>
              <a:buNone/>
            </a:pPr>
            <a:r>
              <a:rPr b="0" lang="en-US" sz="1400">
                <a:latin typeface="Bookman Old Style"/>
                <a:ea typeface="Bookman Old Style"/>
                <a:cs typeface="Bookman Old Style"/>
                <a:sym typeface="Bookman Old Style"/>
              </a:rPr>
              <a:t>Satish Y (2024MT13013) &amp; Prabhath K (2025HT66024)</a:t>
            </a:r>
            <a:endParaRPr b="0" sz="14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ookman Old Style"/>
              <a:buNone/>
            </a:pPr>
            <a:r>
              <a:rPr b="0" lang="en-US" sz="1400">
                <a:latin typeface="Bookman Old Style"/>
                <a:ea typeface="Bookman Old Style"/>
                <a:cs typeface="Bookman Old Style"/>
                <a:sym typeface="Bookman Old Style"/>
              </a:rPr>
              <a:t>Instructor In-Charge (I/C): </a:t>
            </a:r>
            <a:r>
              <a:rPr lang="en-US" sz="1400">
                <a:latin typeface="Bookman Old Style"/>
                <a:ea typeface="Bookman Old Style"/>
                <a:cs typeface="Bookman Old Style"/>
                <a:sym typeface="Bookman Old Style"/>
              </a:rPr>
              <a:t>Prof. Vivekananda M R</a:t>
            </a:r>
            <a:endParaRPr sz="14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>
            <p:ph idx="1" type="body"/>
          </p:nvPr>
        </p:nvSpPr>
        <p:spPr>
          <a:xfrm>
            <a:off x="119050" y="5095650"/>
            <a:ext cx="117381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</a:rPr>
              <a:t>Smart Grid Energy Monitoring and Distribution System</a:t>
            </a:r>
            <a:endParaRPr sz="30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4294967295" type="title"/>
          </p:nvPr>
        </p:nvSpPr>
        <p:spPr>
          <a:xfrm>
            <a:off x="300600" y="535650"/>
            <a:ext cx="10972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Problem Statement</a:t>
            </a:r>
            <a:endParaRPr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71" name="Google Shape;71;p9"/>
          <p:cNvSpPr txBox="1"/>
          <p:nvPr/>
        </p:nvSpPr>
        <p:spPr>
          <a:xfrm>
            <a:off x="358850" y="1690575"/>
            <a:ext cx="9696900" cy="42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❖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a real-time smart grid monitoring system using IPC and sockets.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 </a:t>
            </a:r>
            <a:r>
              <a:rPr b="1" lang="en-US" sz="2600" u="sng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Aims to:</a:t>
            </a:r>
            <a:endParaRPr b="1" sz="2600" u="sng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data monitoring and updates.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Efficient and reliable communication.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 anomalies or faults in the grid.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scalability for large distributed systems.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 focuses on real-time monitoring and fault detection using socket programming and IPC.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idx="4294967295" type="title"/>
          </p:nvPr>
        </p:nvSpPr>
        <p:spPr>
          <a:xfrm>
            <a:off x="292625" y="535650"/>
            <a:ext cx="10972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Literature Survey &amp; Justification</a:t>
            </a:r>
            <a:endParaRPr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77" name="Google Shape;77;p10"/>
          <p:cNvSpPr txBox="1"/>
          <p:nvPr/>
        </p:nvSpPr>
        <p:spPr>
          <a:xfrm>
            <a:off x="462525" y="1730450"/>
            <a:ext cx="11347500" cy="56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9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Literature Survey</a:t>
            </a:r>
            <a:endParaRPr b="1" sz="19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of renewable energy sources increases grid complexity.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of smart meters and IoT devices for detailed data collection.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 of load forecasting for demand–supply balancing.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Adoption of edge computing for faster local data processing.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Interoperability issues due to lack of standard protocols.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9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Justification</a:t>
            </a:r>
            <a:endParaRPr b="1" sz="19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Demonstrates IPC usage for efficient data exchange.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Shows socket-based network communication between systems.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Ensures system reliability in real-time monitoring.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practical implementation of network programming concepts.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Bridges theory and real-world application.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 txBox="1"/>
          <p:nvPr>
            <p:ph idx="1" type="body"/>
          </p:nvPr>
        </p:nvSpPr>
        <p:spPr>
          <a:xfrm>
            <a:off x="406400" y="1701175"/>
            <a:ext cx="9944400" cy="224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Most existing smart grid systems are complex and expensive for academic demonstration.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Limited focus on cost-effective implementations.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Need for clear, practical system designs for learning purposes.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Insufficient demonstration of real-time concepts in small-scale models.</a:t>
            </a:r>
            <a:endParaRPr sz="3500"/>
          </a:p>
        </p:txBody>
      </p:sp>
      <p:sp>
        <p:nvSpPr>
          <p:cNvPr id="84" name="Google Shape;84;p11"/>
          <p:cNvSpPr txBox="1"/>
          <p:nvPr>
            <p:ph idx="2" type="body"/>
          </p:nvPr>
        </p:nvSpPr>
        <p:spPr>
          <a:xfrm>
            <a:off x="294775" y="622875"/>
            <a:ext cx="8432700" cy="549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ookman Old Style"/>
                <a:ea typeface="Bookman Old Style"/>
                <a:cs typeface="Bookman Old Style"/>
                <a:sym typeface="Bookman Old Style"/>
              </a:rPr>
              <a:t>Research Gap</a:t>
            </a:r>
            <a:endParaRPr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/>
          <p:nvPr>
            <p:ph idx="4294967295" type="title"/>
          </p:nvPr>
        </p:nvSpPr>
        <p:spPr>
          <a:xfrm>
            <a:off x="284650" y="543625"/>
            <a:ext cx="10972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Objectives</a:t>
            </a:r>
            <a:endParaRPr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90" name="Google Shape;90;p12"/>
          <p:cNvSpPr txBox="1"/>
          <p:nvPr/>
        </p:nvSpPr>
        <p:spPr>
          <a:xfrm>
            <a:off x="491975" y="1682625"/>
            <a:ext cx="10063800" cy="3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 sector-level processes to simulate grid components (sensors/substations)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a central server to collect, process, and monitor data.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communication mechanisms between processes and server.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 real-time data exchange and updates.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 efficient coordination between different system components.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Reliable TCP communication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Multi-client monitoring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idx="4294967295" type="title"/>
          </p:nvPr>
        </p:nvSpPr>
        <p:spPr>
          <a:xfrm>
            <a:off x="276675" y="559550"/>
            <a:ext cx="10972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Milestones &amp; Development Journey</a:t>
            </a:r>
            <a:endParaRPr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22650" y="1698575"/>
            <a:ext cx="93063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Phase 1: Planning</a:t>
            </a:r>
            <a:br>
              <a:rPr b="1" lang="en-US" sz="2300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Define system requirements, design architecture, and identify components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Phase 2: Implementation</a:t>
            </a:r>
            <a:br>
              <a:rPr b="1" lang="en-US" sz="2300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Develop sector processes, central server, and communication mechanisms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Phase 3: Testing</a:t>
            </a:r>
            <a:br>
              <a:rPr b="1" lang="en-US" sz="2300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Verify system functionality, data flow, and handle possible errors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Phase 4: Documentation</a:t>
            </a:r>
            <a:br>
              <a:rPr b="1" lang="en-US" sz="2300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Prepare reports, code documentation, and presentation materials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>
            <p:ph idx="4294967295" type="title"/>
          </p:nvPr>
        </p:nvSpPr>
        <p:spPr>
          <a:xfrm>
            <a:off x="252750" y="535650"/>
            <a:ext cx="10972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Requirements for Problem Solving</a:t>
            </a:r>
            <a:endParaRPr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86425" y="1730450"/>
            <a:ext cx="116427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Hardware Requirements:</a:t>
            </a:r>
            <a:br>
              <a:rPr b="1" lang="en-US" sz="2300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Computer system with minimum </a:t>
            </a:r>
            <a:r>
              <a:rPr b="1" lang="en-US" sz="2300">
                <a:solidFill>
                  <a:schemeClr val="dk1"/>
                </a:solidFill>
              </a:rPr>
              <a:t>4GB RAM</a:t>
            </a:r>
            <a:r>
              <a:rPr lang="en-US" sz="2300">
                <a:solidFill>
                  <a:schemeClr val="dk1"/>
                </a:solidFill>
              </a:rPr>
              <a:t> for smooth execution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Software Requirements:</a:t>
            </a:r>
            <a:br>
              <a:rPr b="1" lang="en-US" sz="2300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</a:t>
            </a:r>
            <a:r>
              <a:rPr b="1" lang="en-US" sz="2300">
                <a:solidFill>
                  <a:schemeClr val="dk1"/>
                </a:solidFill>
              </a:rPr>
              <a:t>Linux Operating System</a:t>
            </a:r>
            <a:r>
              <a:rPr lang="en-US" sz="2300">
                <a:solidFill>
                  <a:schemeClr val="dk1"/>
                </a:solidFill>
              </a:rPr>
              <a:t> for IPC support and process management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Programming Language:</a:t>
            </a:r>
            <a:br>
              <a:rPr b="1" lang="en-US" sz="2300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</a:t>
            </a:r>
            <a:r>
              <a:rPr b="1" lang="en-US" sz="2300">
                <a:solidFill>
                  <a:schemeClr val="dk1"/>
                </a:solidFill>
              </a:rPr>
              <a:t>Python</a:t>
            </a:r>
            <a:r>
              <a:rPr lang="en-US" sz="2300">
                <a:solidFill>
                  <a:schemeClr val="dk1"/>
                </a:solidFill>
              </a:rPr>
              <a:t> for implementing IPC and socket communication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Libraries &amp; Tools:</a:t>
            </a:r>
            <a:br>
              <a:rPr b="1" lang="en-US" sz="2300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Socket libraries and </a:t>
            </a:r>
            <a:r>
              <a:rPr b="1" lang="en-US" sz="2300">
                <a:solidFill>
                  <a:schemeClr val="dk1"/>
                </a:solidFill>
              </a:rPr>
              <a:t>IPC mechanisms</a:t>
            </a:r>
            <a:r>
              <a:rPr lang="en-US" sz="2300">
                <a:solidFill>
                  <a:schemeClr val="dk1"/>
                </a:solidFill>
              </a:rPr>
              <a:t> (Pipes, Message Queues, Shared Memory)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System Components:</a:t>
            </a:r>
            <a:br>
              <a:rPr b="1" lang="en-US" sz="2300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Sector processes, central server, and communication modules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Functional Requirements:</a:t>
            </a:r>
            <a:br>
              <a:rPr b="1" lang="en-US" sz="2300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Real-time data transmission, monitoring, and fault detection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4294967295" type="title"/>
          </p:nvPr>
        </p:nvSpPr>
        <p:spPr>
          <a:xfrm>
            <a:off x="268700" y="535650"/>
            <a:ext cx="10972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Roles &amp; Responsibilities</a:t>
            </a:r>
            <a:endParaRPr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507925" y="1738400"/>
            <a:ext cx="90693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US" sz="2200">
                <a:solidFill>
                  <a:schemeClr val="dk1"/>
                </a:solidFill>
              </a:rPr>
              <a:t>Satish Y</a:t>
            </a:r>
            <a:r>
              <a:rPr b="1" lang="en-US" sz="2200">
                <a:solidFill>
                  <a:schemeClr val="dk1"/>
                </a:solidFill>
              </a:rPr>
              <a:t>:</a:t>
            </a:r>
            <a:br>
              <a:rPr b="1" lang="en-US" sz="2200">
                <a:solidFill>
                  <a:schemeClr val="dk1"/>
                </a:solidFill>
              </a:rPr>
            </a:br>
            <a:r>
              <a:rPr lang="en-US" sz="2200">
                <a:solidFill>
                  <a:schemeClr val="dk1"/>
                </a:solidFill>
              </a:rPr>
              <a:t>I</a:t>
            </a:r>
            <a:r>
              <a:rPr lang="en-US" sz="2200">
                <a:solidFill>
                  <a:schemeClr val="dk1"/>
                </a:solidFill>
              </a:rPr>
              <a:t>mplementation of Inter-Process Communication (IPC) mechanisms.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US" sz="2200">
                <a:solidFill>
                  <a:schemeClr val="dk1"/>
                </a:solidFill>
              </a:rPr>
              <a:t>Prabhath K</a:t>
            </a:r>
            <a:r>
              <a:rPr b="1" lang="en-US" sz="2200">
                <a:solidFill>
                  <a:schemeClr val="dk1"/>
                </a:solidFill>
              </a:rPr>
              <a:t>:</a:t>
            </a:r>
            <a:br>
              <a:rPr b="1" lang="en-US" sz="2200">
                <a:solidFill>
                  <a:schemeClr val="dk1"/>
                </a:solidFill>
              </a:rPr>
            </a:br>
            <a:r>
              <a:rPr lang="en-US" sz="2200">
                <a:solidFill>
                  <a:schemeClr val="dk1"/>
                </a:solidFill>
              </a:rPr>
              <a:t>Development of socket-based communication and system testing.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109" name="Google Shape;109;p15" title="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0113" y="3616100"/>
            <a:ext cx="2309974" cy="2887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idx="4294967295" type="title"/>
          </p:nvPr>
        </p:nvSpPr>
        <p:spPr>
          <a:xfrm>
            <a:off x="268700" y="535650"/>
            <a:ext cx="10972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Proposed System Architecture</a:t>
            </a:r>
            <a:endParaRPr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528175" y="4940425"/>
            <a:ext cx="9069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TCP socket communication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Real-time monitoring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Fault detection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116" name="Google Shape;116;p16" title="Sector Node 1.png"/>
          <p:cNvPicPr preferRelativeResize="0"/>
          <p:nvPr/>
        </p:nvPicPr>
        <p:blipFill rotWithShape="1">
          <a:blip r:embed="rId3">
            <a:alphaModFix/>
          </a:blip>
          <a:srcRect b="13840" l="15867" r="14630" t="13890"/>
          <a:stretch/>
        </p:blipFill>
        <p:spPr>
          <a:xfrm>
            <a:off x="1438875" y="1601025"/>
            <a:ext cx="7741600" cy="297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idx="4294967295" type="title"/>
          </p:nvPr>
        </p:nvSpPr>
        <p:spPr>
          <a:xfrm>
            <a:off x="268700" y="535650"/>
            <a:ext cx="10972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Workflow of System</a:t>
            </a:r>
            <a:endParaRPr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22" name="Google Shape;122;p17" title="Sector node generates energy data Data transmitted using TCP socket Server receives data Threshold checking performed Warning generated for abnormal valu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4475" y="1630075"/>
            <a:ext cx="8643051" cy="453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idx="4294967295" type="title"/>
          </p:nvPr>
        </p:nvSpPr>
        <p:spPr>
          <a:xfrm>
            <a:off x="268700" y="535650"/>
            <a:ext cx="10972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Technologies Used</a:t>
            </a:r>
            <a:endParaRPr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507925" y="1738400"/>
            <a:ext cx="9069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  <p:graphicFrame>
        <p:nvGraphicFramePr>
          <p:cNvPr id="129" name="Google Shape;129;p18"/>
          <p:cNvGraphicFramePr/>
          <p:nvPr/>
        </p:nvGraphicFramePr>
        <p:xfrm>
          <a:off x="507900" y="164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{D8E43337-4345-43BF-802A-63DD54FFFC02}</a:tableStyleId>
              </a:tblPr>
              <a:tblGrid>
                <a:gridCol w="3369875"/>
                <a:gridCol w="3713825"/>
              </a:tblGrid>
              <a:tr h="43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Technology</a:t>
                      </a:r>
                      <a:endParaRPr b="1" sz="2400"/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Purpose</a:t>
                      </a:r>
                      <a:endParaRPr b="1" sz="2400"/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</a:tr>
              <a:tr h="52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Python</a:t>
                      </a:r>
                      <a:endParaRPr sz="2400"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Programming</a:t>
                      </a:r>
                      <a:endParaRPr sz="2400"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52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TCP Socket</a:t>
                      </a:r>
                      <a:endParaRPr sz="2400"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Communication</a:t>
                      </a:r>
                      <a:endParaRPr sz="2400"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52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Threading</a:t>
                      </a:r>
                      <a:endParaRPr sz="2400"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Multiple clients</a:t>
                      </a:r>
                      <a:endParaRPr sz="2400"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0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IPC</a:t>
                      </a:r>
                      <a:endParaRPr sz="2400"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Process coordination</a:t>
                      </a:r>
                      <a:endParaRPr sz="2400"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idx="4294967295" type="title"/>
          </p:nvPr>
        </p:nvSpPr>
        <p:spPr>
          <a:xfrm>
            <a:off x="268700" y="535650"/>
            <a:ext cx="10972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Implementation Details</a:t>
            </a:r>
            <a:endParaRPr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507925" y="1738400"/>
            <a:ext cx="90693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Server module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Client module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Fault detection module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Multi-threading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136" name="Google Shape;136;p19" title="Screenshot 2026-05-16 at 8.19.45 PM.png"/>
          <p:cNvPicPr preferRelativeResize="0"/>
          <p:nvPr/>
        </p:nvPicPr>
        <p:blipFill rotWithShape="1">
          <a:blip r:embed="rId3">
            <a:alphaModFix/>
          </a:blip>
          <a:srcRect b="65696" l="29442" r="35298" t="10874"/>
          <a:stretch/>
        </p:blipFill>
        <p:spPr>
          <a:xfrm>
            <a:off x="2229250" y="3277700"/>
            <a:ext cx="7347973" cy="316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idx="4294967295" type="title"/>
          </p:nvPr>
        </p:nvSpPr>
        <p:spPr>
          <a:xfrm>
            <a:off x="268700" y="535650"/>
            <a:ext cx="10972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Testing and Results</a:t>
            </a:r>
            <a:endParaRPr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507925" y="1738400"/>
            <a:ext cx="90693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Connection test successful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Continuous data transfer verified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Warning generation verified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Multiple clients supported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143" name="Google Shape;143;p20" title="Screenshot 2026-05-16 at 8.22.10 PM.png"/>
          <p:cNvPicPr preferRelativeResize="0"/>
          <p:nvPr/>
        </p:nvPicPr>
        <p:blipFill rotWithShape="1">
          <a:blip r:embed="rId3">
            <a:alphaModFix/>
          </a:blip>
          <a:srcRect b="0" l="4165" r="39329" t="71929"/>
          <a:stretch/>
        </p:blipFill>
        <p:spPr>
          <a:xfrm>
            <a:off x="2140138" y="3489625"/>
            <a:ext cx="7911726" cy="2544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idx="4294967295" type="title"/>
          </p:nvPr>
        </p:nvSpPr>
        <p:spPr>
          <a:xfrm>
            <a:off x="268700" y="535650"/>
            <a:ext cx="10972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Performance Measurement</a:t>
            </a:r>
            <a:endParaRPr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507925" y="1738400"/>
            <a:ext cx="90693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Reliable communication achieved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Fast data transfer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Low CPU usage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Continuous monitoring supported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150" name="Google Shape;150;p21" title="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3725" y="1487750"/>
            <a:ext cx="3638925" cy="454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idx="4294967295" type="title"/>
          </p:nvPr>
        </p:nvSpPr>
        <p:spPr>
          <a:xfrm>
            <a:off x="268700" y="535650"/>
            <a:ext cx="10972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Future Work</a:t>
            </a:r>
            <a:endParaRPr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507925" y="1738400"/>
            <a:ext cx="9069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Cloud dashboard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IoT integration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AI-based analytics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157" name="Google Shape;157;p22" title="Untitled design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5125" y="1861275"/>
            <a:ext cx="3156300" cy="3945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idx="4294967295" type="title"/>
          </p:nvPr>
        </p:nvSpPr>
        <p:spPr>
          <a:xfrm>
            <a:off x="268700" y="535650"/>
            <a:ext cx="10972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Conclusion</a:t>
            </a:r>
            <a:endParaRPr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63" name="Google Shape;163;p23"/>
          <p:cNvSpPr txBox="1"/>
          <p:nvPr/>
        </p:nvSpPr>
        <p:spPr>
          <a:xfrm>
            <a:off x="507925" y="1738400"/>
            <a:ext cx="105672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The project successfully demonstrates real-time smart grid monitoring using TCP socket programming and IPC concepts. The system achieved reliable communication, fault detection, and centralized monitoring.</a:t>
            </a: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idx="4294967295" type="title"/>
          </p:nvPr>
        </p:nvSpPr>
        <p:spPr>
          <a:xfrm>
            <a:off x="268700" y="535650"/>
            <a:ext cx="10972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References</a:t>
            </a:r>
            <a:endParaRPr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69" name="Google Shape;169;p24"/>
          <p:cNvSpPr txBox="1"/>
          <p:nvPr/>
        </p:nvSpPr>
        <p:spPr>
          <a:xfrm>
            <a:off x="507925" y="1738400"/>
            <a:ext cx="90693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Python Documentation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Socket Programming Docs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Tanenbaum Computer Networks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Smart Grid Articles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170" name="Google Shape;170;p24" title="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4025" y="2290825"/>
            <a:ext cx="2620401" cy="3275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/>
          <p:nvPr>
            <p:ph idx="4294967295" type="title"/>
          </p:nvPr>
        </p:nvSpPr>
        <p:spPr>
          <a:xfrm>
            <a:off x="609600" y="3617250"/>
            <a:ext cx="10972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Thank you</a:t>
            </a:r>
            <a:endParaRPr sz="3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76" name="Google Shape;176;p25"/>
          <p:cNvSpPr txBox="1"/>
          <p:nvPr/>
        </p:nvSpPr>
        <p:spPr>
          <a:xfrm>
            <a:off x="507925" y="1738400"/>
            <a:ext cx="9069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5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